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C:/Users/Admin/Downloads/EAM/EAMSagemCom/rapport/figures/espr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60120" cy="960120"/>
          </a:xfrm>
          <a:prstGeom prst="rect">
            <a:avLst/>
          </a:prstGeom>
        </p:spPr>
      </p:pic>
      <p:pic>
        <p:nvPicPr>
          <p:cNvPr id="6" name="Image 1" descr="C:/Users/Admin/Downloads/EAM/EAMSagemCom/rapport/figures/sagemco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61320" y="502920"/>
            <a:ext cx="105156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DEFENSE — FIRST PRESENTATION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EAM Platform for Intelligent Predictive Maintenance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an Enterprise Asset Management (EAM) system augmented with seven Machine Learning models, an evidence-fusion engine, and a conversational RAG assistant.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108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Mbarki</a:t>
            </a:r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End-of-Studies Internship — ESPRIT × SagemCom  ·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host company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of existing solutions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requirements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2999232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2278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29992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4215384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443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215384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5431536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56601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660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03720" y="543153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progress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SagemCom — Communication Equipment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pic>
        <p:nvPicPr>
          <p:cNvPr id="6" name="Image 0" descr="C:/Users/Admin/Downloads/EAM/EAMSagemCom/rapport/figures/sagemc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011680"/>
            <a:ext cx="21031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group specializing in the design and manufacturing of high-value communication equipment: set-top boxes, internet boxes, and smart meters.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lines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assembly, functional testing, and automated quality control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department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&amp; Innovation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294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52486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mission — </a:t>
            </a:r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digital tools for equipment maintenance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52360" y="17373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1812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at a glance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18120" y="26060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0982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internship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18120" y="350215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(P1–P7)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39826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9098280" y="4507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29437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9098280" y="5404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scheduled to predictive maintenance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only after the failure: line stoppage, emergency parts ordering, maximum total cost.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(calendar)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at fixed intervals, regardless of actual condition: parts replaced too early, or failures between two scheduled visits.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51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(project's target)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reading of machine signals (temperature, torque, wear) to anticipate failure before it happens.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AF1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—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cases, a machine's degradation is visible in its sensor data well before the actual stoppage. This is the premise the whole ML pipeline is built 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cover, in a single platform,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operational management AND predictive maintenance?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825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operational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1912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orders, intervention orders, scheduling — the EAM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4197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ML-based predictive maintenance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5628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probability, failure type, remaining useful life, anomalies, prioritization, scheduling, parts coordination.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7607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5686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field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93445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alerts, explainability ("why this alert?"), a conversational assistant combining documentation and real-time status.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0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EAM module of a general-purpose ERP, very complete on work order and asset management.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Maximo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EAM suite with a predictive add-on module (Maximo APM), strong document management.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 Digital APM / Predix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51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platform focused on IoT sensors and large-scale reliability analytics.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57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CMMS / Excel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257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tools or spreadsheets, used when budget doesn't allow a full EAM suite.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of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EAM functional coverage (WOs, assets, scheduling)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90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9352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ecosystems, large communities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4381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modules available as add-ons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041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in this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4074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as a costly add-on, poorly explained to technicians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651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assistant tied to real-time machine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4681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98448" y="54132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licensing and integration cost for a single site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Justification of the proposed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288036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tailored to SagemCom's fleet, no heavy licensing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365760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explained in plain language, no ML jargon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92240" y="443484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assistant + real-time machine context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92240" y="5212080"/>
            <a:ext cx="320040" cy="3200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5212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always "guarded": nothing fires without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EAM Platform Augmented by ML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EAM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machines, work orders and intervention orders, scheduling, archiving.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predictive models (P1–P7)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Failure, failure type, remaining useful life, anomaly, priority, scheduling, parts.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03911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560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fusion (DST)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85632" y="28986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4 advanced signals (Wave 2) into one honest, unified health score.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explainability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shipped with a plain-language explanation.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RAG assistant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4515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+ real-time machine status merged into every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86791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3891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automation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85632" y="472744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purchase proposals generated, never ordered without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Platform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05740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machines, and the document base; overall view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0574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84448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and overview of machine labels and statuses.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7456" y="2057400"/>
            <a:ext cx="1005840" cy="10058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Technician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7376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interventions, arbitrates priorities, approves procurement proposals.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78308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30384" y="2057400"/>
            <a:ext cx="1005840" cy="10058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3038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Technician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 orders, checks health status, queries the AI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C:/Users/Admin/AppData/Local/Temp/claude/C--Users-Admin-Downloads-EAM-EAMSagemCom/e161d5b3-3f5a-4902-93ec-a6ee0b387a74/scratchpad/pptx/usecase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00200"/>
            <a:ext cx="7955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10 Areas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79792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9792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17373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9202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9729216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23591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(P1–P7)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98064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80944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80944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47488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5" name="Text 33"/>
          <p:cNvSpPr/>
          <p:nvPr/>
        </p:nvSpPr>
        <p:spPr>
          <a:xfrm>
            <a:off x="5230368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6912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9" name="Text 37"/>
          <p:cNvSpPr/>
          <p:nvPr/>
        </p:nvSpPr>
        <p:spPr>
          <a:xfrm>
            <a:off x="7479792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546336" y="3794760"/>
            <a:ext cx="2112264" cy="1737360"/>
          </a:xfrm>
          <a:prstGeom prst="roundRect">
            <a:avLst>
              <a:gd name="adj" fmla="val 4737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9216" y="3977640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3" name="Text 41"/>
          <p:cNvSpPr/>
          <p:nvPr/>
        </p:nvSpPr>
        <p:spPr>
          <a:xfrm>
            <a:off x="9729216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29216" y="4416552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&amp; traceability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1447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cross-cutting requirements: every prediction ships with a plain-language explanation; the system degrades honestly (reports missing telemetry rather than inventing a value).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for common operations; &lt; 5 s for full ML inference.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EAM features stay fully operational even if the ML service is unavailable.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2807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presentation / business logic / data access; versioned migrations (Alembic).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via Docker Compose, configuration centralized in a single .env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adapted to the user's role and device (desktop workstation or field tablet).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657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160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confidentiality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453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scoped by role; intervention history cannot be modified retroactively.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Approach Inspired by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SagemCom supervisor — prioritizes business needs and validates every deliverable.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drives the specify → plan → build → verify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Intern, paired with an AI assistant for implementation and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233172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 &amp; artifacts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074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7 monthly iterations aligned with the roadmap (see Gantt chart).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280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a written specification document + a detailed implementation plan for every feature, before any code is written.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4315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340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follows the same disciplined loop: specify → plan → build → verify, ensuring full traceability of technical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 — 4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63440" y="16916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3 role-based spaces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30632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business logic &amp; 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44348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Microservice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P1–P7 + Wave 2 + DST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44348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+ responses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58064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5897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MinIO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6263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+ object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606040"/>
            <a:ext cx="0" cy="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2971800" y="3703320"/>
            <a:ext cx="1965960" cy="73152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3703320"/>
            <a:ext cx="1965960" cy="73152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3977640"/>
            <a:ext cx="0" cy="18288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971800" y="5349240"/>
            <a:ext cx="2148840" cy="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040880" y="5349240"/>
            <a:ext cx="2148840" cy="64008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orchestration · HTTP communication between services · MinIO for documents and attachments.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C:/Users/Admin/Downloads/EAM/EAMSagemCom/rapport/figures/deploymen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7665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737360"/>
            <a:ext cx="4069080" cy="4480560"/>
          </a:xfrm>
          <a:prstGeom prst="roundRect">
            <a:avLst>
              <a:gd name="adj" fmla="val 2022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independent Docker Compose stacks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26060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75320" y="2532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stack: Postgres, RabbitMQ, MinIO, backend, ML, RAG, frontend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322783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753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(SAST, self-hosted)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63840" y="384962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3776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Prometheus + Grafana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4471416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4398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(ML research)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63840" y="5166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migration: AKS cluster (Azure), provisioned via Terraform.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telemetry:  air temperature · process temperature · rotational speed · torque · tool wear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9904" y="197510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28800" y="196596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useful clues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2139696"/>
            <a:ext cx="6720840" cy="347472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— works out how much heat is building up and how hard the machine is working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252374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251460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seven different questions asked at once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chance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426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17" name="Text 15"/>
          <p:cNvSpPr/>
          <p:nvPr/>
        </p:nvSpPr>
        <p:spPr>
          <a:xfrm>
            <a:off x="214426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426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39896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9896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35524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35524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5524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behavior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31152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31152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26780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29" name="Text 27"/>
          <p:cNvSpPr/>
          <p:nvPr/>
        </p:nvSpPr>
        <p:spPr>
          <a:xfrm>
            <a:off x="8526780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526780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122408" y="2734056"/>
            <a:ext cx="1490472" cy="530352"/>
          </a:xfrm>
          <a:prstGeom prst="roundRect">
            <a:avLst>
              <a:gd name="adj" fmla="val 10345"/>
            </a:avLst>
          </a:prstGeom>
          <a:solidFill>
            <a:srgbClr val="E1F0F1"/>
          </a:solidFill>
          <a:ln/>
        </p:spPr>
      </p:sp>
      <p:sp>
        <p:nvSpPr>
          <p:cNvPr id="32" name="Text 30"/>
          <p:cNvSpPr/>
          <p:nvPr/>
        </p:nvSpPr>
        <p:spPr>
          <a:xfrm>
            <a:off x="10122408" y="2770632"/>
            <a:ext cx="149047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22408" y="3009839"/>
            <a:ext cx="1490472" cy="24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needed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9904" y="3319272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828800" y="331012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set of checks runs at the same time, using the machine's history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can run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778240" y="35661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BEAD9"/>
          </a:solidFill>
          <a:ln/>
        </p:spPr>
      </p:sp>
      <p:sp>
        <p:nvSpPr>
          <p:cNvPr id="46" name="Text 44"/>
          <p:cNvSpPr/>
          <p:nvPr/>
        </p:nvSpPr>
        <p:spPr>
          <a:xfrm>
            <a:off x="8778240" y="3602736"/>
            <a:ext cx="26060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778240" y="380390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over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9904" y="4078224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828800" y="406908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opinions get combined into one answer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279392"/>
            <a:ext cx="11109960" cy="4572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79392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evidence fusion —  </a:t>
            </a:r>
            <a:pPr algn="ctr"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every signal together, and says 'not sure' if they disagree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89904" y="4846320"/>
            <a:ext cx="0" cy="128016"/>
          </a:xfrm>
          <a:prstGeom prst="line">
            <a:avLst/>
          </a:prstGeom>
          <a:noFill/>
          <a:ln w="1270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828800" y="483717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a score when it's confident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5047488"/>
            <a:ext cx="5623560" cy="502920"/>
          </a:xfrm>
          <a:prstGeom prst="roundRect">
            <a:avLst>
              <a:gd name="adj" fmla="val 16364"/>
            </a:avLst>
          </a:prstGeom>
          <a:solidFill>
            <a:srgbClr val="E9F3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5047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score (0–100) + verdict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98648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18888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details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98648" y="205740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18888" y="205740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fail soon?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5 features · SMOTE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41858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858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98648" y="241858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241858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failure?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93608" y="241858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 · 5 modes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277977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98648" y="277977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+ quantile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277977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before service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93608" y="277977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MAE 14.95 · C-idx 0.62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40964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4096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98648" y="314096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18888" y="314096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strange right now?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93608" y="31409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30% + Z 20% + cluster 10% + AE 40%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Priority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98648" y="350215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18888" y="350215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is the repair?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93608" y="350215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4 priority classes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863340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6334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Schedule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98648" y="386334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18888" y="386334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do maintenance?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93608" y="38633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replaced earlier Prophet design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22452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98648" y="422452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forecast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parts, and when?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93608" y="422452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 + Croston's method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585716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8571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98648" y="4585716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585716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estimates realistic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93608" y="458571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reads history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4946904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 PH survival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98648" y="4946904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18888" y="4946904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can it keep running?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93608" y="49469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C-index 0.712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8640" y="5308092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30809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Mahalanobis index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898648" y="5308092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18888" y="5308092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from its own normal?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93608" y="5308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ignores wear resets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" y="566928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+ Kalman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898648" y="5669280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Change-point detector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5669280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getting worse over time?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293608" y="566928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signal · smoothed drift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8640" y="6030468"/>
            <a:ext cx="11109960" cy="361188"/>
          </a:xfrm>
          <a:prstGeom prst="roundRect">
            <a:avLst>
              <a:gd name="adj" fmla="val 22785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603046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fusion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98648" y="6030468"/>
            <a:ext cx="173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Evidence-combination rule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18888" y="6030468"/>
            <a:ext cx="329184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signal into one verdict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93608" y="603046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Dempster's rule, or Yager's on conflict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Models —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365760"/>
          </a:xfrm>
          <a:prstGeom prst="roundRect">
            <a:avLst>
              <a:gd name="adj" fmla="val 22500"/>
            </a:avLst>
          </a:prstGeom>
          <a:solidFill>
            <a:srgbClr val="0B2545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33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Alternatives considered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9360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Failure probability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7296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33288" y="205740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(initial), logistic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93608" y="205740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non-linear, imbalanced sensor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546604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660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Failure type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XGBoost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33288" y="254660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Random 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93608" y="254660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on rare failure modes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Remaining life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quantile heads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33288" y="303580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linear regression (legacy)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93608" y="303580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calibrated uncertainty range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5012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501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RUL, censoring-aware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296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/ Cox PH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33288" y="352501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censoring-blind regression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3608" y="352501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0.714/0.712 vs 0.644 naive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14216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Anomaly detection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7296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4-method ensemble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33288" y="4014216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alone, autoencoder alone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93608" y="4014216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anomaly shapes a single method misses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03420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3420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Work order priority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7296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multi-class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3288" y="4503420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heuristic, Random Forest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93608" y="4503420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instead of fixed thresholds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4992624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Maintenance schedule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7296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733288" y="4992624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Prophet, ARIMA, LSTM forecast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93608" y="4992624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on sparse per-machine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481828"/>
            <a:ext cx="11109960" cy="489204"/>
          </a:xfrm>
          <a:prstGeom prst="roundRect">
            <a:avLst>
              <a:gd name="adj" fmla="val 16822"/>
            </a:avLst>
          </a:prstGeom>
          <a:solidFill>
            <a:srgbClr val="EAF1F8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481828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P7 Parts demand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17296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+ Croston's method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33288" y="5481828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point, moving average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93608" y="5481828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bursty, intermittent demand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" y="5971032"/>
            <a:ext cx="2331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 fusion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7296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Dempster-Shafer fusion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33288" y="5971032"/>
            <a:ext cx="2377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average, majority vote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93608" y="5971032"/>
            <a:ext cx="2743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uncertainty instead of forcing consensus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C:/Users/Admin/Downloads/EAM/EAMSagemCom/rapport/figures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691640"/>
            <a:ext cx="103327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Internship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5" name="Image 0" descr="C:/Users/Admin/Downloads/EAM/EAMSagemCom/rapport/figures/plan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React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PostgreSQL · Alembic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0116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85632" y="2560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XGBoost · scikit-learn · TensorFlow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F2994A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· BAAI/bge-m3 · Groq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515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MinIO · RabbitMQ · Celery · Terraform · AKS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1188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38404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43891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· Gitleaks · SonarQube · Trivy · OWASP ZAP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6" name="Image 0" descr="C:/Users/Admin/Downloads/EAM/EAMSagemCom/rapport/figures/ss_dashboard_chefte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212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Technician dashboard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9" name="Image 1" descr="C:/Users/Admin/Downloads/EAM/EAMSagemCom/rapport/figures/ss_ml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828800"/>
            <a:ext cx="5212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ML intelligence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2" name="Image 2" descr="C:/Users/Admin/Downloads/EAM/EAMSagemCom/rapport/figures/ss_cha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4297680"/>
            <a:ext cx="5212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RAG assistant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63640" y="42062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pic>
        <p:nvPicPr>
          <p:cNvPr id="15" name="Image 3" descr="C:/Users/Admin/Downloads/EAM/EAMSagemCom/rapport/figures/ss_log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212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EAM foundation, an honest predictive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delivered: operational management + 7 ML models + RAG assistant, tested and secured by a 5-stage DevSecOps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7249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methodological discipline: every feature specified, planned, built, then verified — full traceability of technical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502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rigor on model quality: label leakage was detected and reported,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real ground-truth data to resolve the "leaked" labels (P1/P2/P5), and continuing the production migration to AKS.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 — 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2026-08-14T10:43:39Z</dcterms:created>
  <dcterms:modified xsi:type="dcterms:W3CDTF">2026-08-14T10:43:39Z</dcterms:modified>
</cp:coreProperties>
</file>