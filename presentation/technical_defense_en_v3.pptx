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420624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C:/Users/Admin/Downloads/EAM/EAMSagemCom/rapport/figures/espr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960120" cy="960120"/>
          </a:xfrm>
          <a:prstGeom prst="rect">
            <a:avLst/>
          </a:prstGeom>
        </p:spPr>
      </p:pic>
      <p:pic>
        <p:nvPicPr>
          <p:cNvPr id="6" name="Image 1" descr="C:/Users/Admin/Downloads/EAM/EAMSagemCom/rapport/figures/sagemco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561320" y="502920"/>
            <a:ext cx="1051560" cy="868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DEFENSE — FIRST PRESENTATION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25603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EAM Platform for Intelligent Predictive Maintenance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548640" y="39776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development of an Enterprise Asset Management (EAM) system augmented with seven Machine Learning models, an evidence-fusion engine, and a conversational RAG assistant.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5074920"/>
            <a:ext cx="31089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5257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Hamza Mbarki</a:t>
            </a:r>
            <a:pPr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End-of-Studies Internship — ESPRIT × SagemCom  ·  2025–2026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178308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&amp; host company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2278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299923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215384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443984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443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215384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of existing solutions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431536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566013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660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08760" y="5431536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0" y="1783080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201168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03720" y="178308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Actors &amp; requirements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43600" y="2999232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32278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03720" y="299923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methodology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43600" y="4215384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4443984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4443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03720" y="4215384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design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43600" y="5431536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72200" y="566013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6172200" y="5660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903720" y="5431536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progress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COMPANY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SagemCom — Communication Equipment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pic>
        <p:nvPicPr>
          <p:cNvPr id="6" name="Image 0" descr="C:/Users/Admin/Downloads/EAM/EAMSagemCom/rapport/figures/sagemco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2011680"/>
            <a:ext cx="210312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108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group specializing in the design and manufacturing of high-value communication equipment: set-top boxes, internet boxes, and smart meters.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41605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17320" y="4114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lines — </a:t>
            </a:r>
            <a:pPr indent="0" marL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 assembly, functional testing, and automated quality control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472744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727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17320" y="46817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department — </a:t>
            </a:r>
            <a:pPr indent="0" marL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&amp; Innovation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14400" y="529437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5294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17320" y="524865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Department's mission — </a:t>
            </a:r>
            <a:pPr indent="0" marL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digital tools for equipment maintenance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452360" y="1737360"/>
            <a:ext cx="4160520" cy="4480560"/>
          </a:xfrm>
          <a:prstGeom prst="roundRect">
            <a:avLst>
              <a:gd name="adj" fmla="val 1978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81812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internship at a glance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818120" y="26060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9098280" y="27157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internship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818120" y="350215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22" name="Text 19"/>
          <p:cNvSpPr/>
          <p:nvPr/>
        </p:nvSpPr>
        <p:spPr>
          <a:xfrm>
            <a:off x="909828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(P1–P7)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818120" y="4398264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4" name="Text 21"/>
          <p:cNvSpPr/>
          <p:nvPr/>
        </p:nvSpPr>
        <p:spPr>
          <a:xfrm>
            <a:off x="9098280" y="45079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services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818120" y="5294376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6" name="Text 23"/>
          <p:cNvSpPr/>
          <p:nvPr/>
        </p:nvSpPr>
        <p:spPr>
          <a:xfrm>
            <a:off x="9098280" y="54041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scheduled to predictive maintenance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only after the failure: line stoppage, emergency parts ordering, maximum total cost.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057400"/>
            <a:ext cx="502920" cy="50292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2651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Preventive (calendar)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200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at fixed intervals, regardless of actual condition: parts replaced too early, or failures between two scheduled visits.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78308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0392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2651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(project's target)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3200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reading of machine signals (temperature, torque, wear) to anticipate failure before it happens.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1109960" cy="1417320"/>
          </a:xfrm>
          <a:prstGeom prst="roundRect">
            <a:avLst>
              <a:gd name="adj" fmla="val 5806"/>
            </a:avLst>
          </a:prstGeom>
          <a:solidFill>
            <a:srgbClr val="EAF1F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48920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—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most cases, a machine's degradation is visible in its sensor data well before the actual stoppage. This is the premise the whole ML pipeline is built 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cover, in a single platform,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operational management AND predictive maintenance?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11109960" cy="1170432"/>
          </a:xfrm>
          <a:prstGeom prst="roundRect">
            <a:avLst>
              <a:gd name="adj" fmla="val 7031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301752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8254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operational management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3191256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machines, work orders, intervention orders, scheduling — the EAM foundation.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11109960" cy="1170432"/>
          </a:xfrm>
          <a:prstGeom prst="roundRect">
            <a:avLst>
              <a:gd name="adj" fmla="val 7031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438912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41970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ML-based predictive maintenance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4562856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probability, failure type, remaining useful life, anomalies, prioritization, scheduling, parts coordination.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11109960" cy="1170432"/>
          </a:xfrm>
          <a:prstGeom prst="roundRect">
            <a:avLst>
              <a:gd name="adj" fmla="val 7031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76072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760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55686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field support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5934456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Contextualized alerts, explainability ("why this alert?"), a conversational assistant combining documentation and real-time status.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EXISTING 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identified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109960" cy="502920"/>
          </a:xfrm>
          <a:prstGeom prst="roundRect">
            <a:avLst>
              <a:gd name="adj" fmla="val 16364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37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0" y="17373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240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 PM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2240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EAM module of a general-purpose ERP, very complete on work order and asset management.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246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Maximo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32461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EAM suite with a predictive add-on module (Maximo APM), strong document management.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2519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 Digital APM / Predix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31920" y="42519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platform focused on IoT sensors and large-scale reliability analytics.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257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CMMS / Excel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52578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tools or spreadsheets, used when budget doesn't allow a full EAM suite.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EXISTING 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 of existing solutions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Observed strengths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48716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243230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EAM functional coverage (WOs, assets, scheduling)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299008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90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98448" y="29352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ecosystems, large communities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349300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93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98448" y="343814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modules available as add-ons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0416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in this context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" y="4462272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62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98448" y="44074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ML as a costly add-on, poorly explained to technicians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" y="4965192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965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98448" y="49103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conversational assistant tied to real-time machine status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" y="5468112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468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98448" y="541324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licensing and integration cost for a single site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1783080"/>
            <a:ext cx="5440680" cy="4297680"/>
          </a:xfrm>
          <a:prstGeom prst="roundRect">
            <a:avLst>
              <a:gd name="adj" fmla="val 1915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92240" y="2057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Justification of the proposed solution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2240" y="2880360"/>
            <a:ext cx="320040" cy="3200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49440" y="27889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tailored to SagemCom's fleet, no heavy licensing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92240" y="3657600"/>
            <a:ext cx="320040" cy="3200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49440" y="35661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explained in plain language, no ML jargon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92240" y="4434840"/>
            <a:ext cx="320040" cy="3200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4434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49440" y="43434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assistant + real-time machine context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492240" y="5212080"/>
            <a:ext cx="320040" cy="3200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5212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49440" y="51206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always "guarded": nothing fires without human approval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EAM Platform Augmented by ML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5603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EAM foundation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28986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machines, work orders and intervention orders, scheduling, archiving.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203911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5152" y="25603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predictive models (P1–P7)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45152" y="28986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Failure, failure type, remaining useful life, anomaly, priority, scheduling, parts.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85632" y="203911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485632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85632" y="25603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fusion (DST)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485632" y="28986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4 advanced signals (Wave 2) into one honest, unified health score.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3867912"/>
            <a:ext cx="411480" cy="4114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4672" y="43891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Systematic explainability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4672" y="47274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shipped with a plain-language explanation.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45152" y="3867912"/>
            <a:ext cx="411480" cy="4114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7" name="Text 25"/>
          <p:cNvSpPr/>
          <p:nvPr/>
        </p:nvSpPr>
        <p:spPr>
          <a:xfrm>
            <a:off x="4645152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45152" y="43891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RAG assistant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645152" y="47274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+ real-time machine status merged into every answer.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2960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85632" y="3867912"/>
            <a:ext cx="411480" cy="4114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2" name="Text 30"/>
          <p:cNvSpPr/>
          <p:nvPr/>
        </p:nvSpPr>
        <p:spPr>
          <a:xfrm>
            <a:off x="8485632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85632" y="43891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Guarded automation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485632" y="47274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purchase proposals generated, never ordered without human approval.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&amp;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Platform Roles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2057400"/>
            <a:ext cx="1005840" cy="100584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users, machines, and the document base; overall view of the system.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01568" y="178308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24528" y="205740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224528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38728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Manager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84448" y="384048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and overview of machine labels and statuses.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54496" y="178308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77456" y="2057400"/>
            <a:ext cx="1005840" cy="10058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7077456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91656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Technician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37376" y="384048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interventions, arbitrates priorities, approves procurement proposals.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07424" y="178308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930384" y="2057400"/>
            <a:ext cx="1005840" cy="10058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2" name="Text 20"/>
          <p:cNvSpPr/>
          <p:nvPr/>
        </p:nvSpPr>
        <p:spPr>
          <a:xfrm>
            <a:off x="9930384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44584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Technician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290304" y="384048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intervention orders, checks health status, queries the AI assistant.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 — 9 Areas Covered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47872" cy="1280160"/>
          </a:xfrm>
          <a:prstGeom prst="roundRect">
            <a:avLst>
              <a:gd name="adj" fmla="val 6429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85416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737360"/>
            <a:ext cx="2587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737360"/>
            <a:ext cx="3547872" cy="1280160"/>
          </a:xfrm>
          <a:prstGeom prst="roundRect">
            <a:avLst>
              <a:gd name="adj" fmla="val 6429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2185416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02352" y="1737360"/>
            <a:ext cx="2587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management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01584" y="1737360"/>
            <a:ext cx="3547872" cy="1280160"/>
          </a:xfrm>
          <a:prstGeom prst="roundRect">
            <a:avLst>
              <a:gd name="adj" fmla="val 6429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30184" y="2185416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8330184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78824" y="1737360"/>
            <a:ext cx="2587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3547872" cy="1280160"/>
          </a:xfrm>
          <a:prstGeom prst="roundRect">
            <a:avLst>
              <a:gd name="adj" fmla="val 6429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694176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246120"/>
            <a:ext cx="2587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25112" y="3246120"/>
            <a:ext cx="3547872" cy="1280160"/>
          </a:xfrm>
          <a:prstGeom prst="roundRect">
            <a:avLst>
              <a:gd name="adj" fmla="val 6429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53712" y="3694176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4553712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02352" y="3246120"/>
            <a:ext cx="2587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predictions (P1–P7)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01584" y="3246120"/>
            <a:ext cx="3547872" cy="1280160"/>
          </a:xfrm>
          <a:prstGeom prst="roundRect">
            <a:avLst>
              <a:gd name="adj" fmla="val 6429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30184" y="3694176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7" name="Text 25"/>
          <p:cNvSpPr/>
          <p:nvPr/>
        </p:nvSpPr>
        <p:spPr>
          <a:xfrm>
            <a:off x="8330184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878824" y="3246120"/>
            <a:ext cx="2587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notifications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754880"/>
            <a:ext cx="3547872" cy="1280160"/>
          </a:xfrm>
          <a:prstGeom prst="roundRect">
            <a:avLst>
              <a:gd name="adj" fmla="val 6429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5202936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202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25880" y="4754880"/>
            <a:ext cx="2587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assistant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25112" y="4754880"/>
            <a:ext cx="3547872" cy="1280160"/>
          </a:xfrm>
          <a:prstGeom prst="roundRect">
            <a:avLst>
              <a:gd name="adj" fmla="val 6429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53712" y="5202936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5" name="Text 33"/>
          <p:cNvSpPr/>
          <p:nvPr/>
        </p:nvSpPr>
        <p:spPr>
          <a:xfrm>
            <a:off x="4553712" y="5202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02352" y="4754880"/>
            <a:ext cx="2587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101584" y="4754880"/>
            <a:ext cx="3547872" cy="1280160"/>
          </a:xfrm>
          <a:prstGeom prst="roundRect">
            <a:avLst>
              <a:gd name="adj" fmla="val 6429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30184" y="5202936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9" name="Text 37"/>
          <p:cNvSpPr/>
          <p:nvPr/>
        </p:nvSpPr>
        <p:spPr>
          <a:xfrm>
            <a:off x="8330184" y="5202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878824" y="4754880"/>
            <a:ext cx="2587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Archiving &amp; traceability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61447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cross-cutting requirements: every prediction ships with a plain-language explanation; the system degrades honestly (reports missing telemetry rather than inventing a value).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807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 for common operations; &lt; 5 s for full ML inference.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0116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2807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EAM features stay fully operational even if the ML service is unavailable.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17830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20116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58200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58200" y="2807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separation of presentation / business logic / data access; versioned migrations (Alembic).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657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160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Portability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453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 via Docker Compose, configuration centralized in a single .env file.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34290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657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17720" y="4160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17720" y="4453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adapted to the user's role and device (desktop workstation or field tablet).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34290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58200" y="3657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845820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58200" y="4160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integrity &amp; confidentiality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58200" y="4453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scoped by role; intervention history cannot be modified retroactively.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Iterative Approach Inspired by Scrum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Owner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SagemCom supervisor — prioritizes business needs and validates every deliverable.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Master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17720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— drives the specify → plan → build → verify cycle.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178308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5820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team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58200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Intern, paired with an AI assistant for implementation and testing.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11109960" cy="2331720"/>
          </a:xfrm>
          <a:prstGeom prst="roundRect">
            <a:avLst>
              <a:gd name="adj" fmla="val 3529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Sprints &amp; artifacts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" y="4407408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3159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Sprints: 7 monthly iterations aligned with the roadmap (see Gantt chart).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400" y="4919472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919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8280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Artifacts: a written specification document + a detailed implementation plan for every feature, before any code is written.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4400" y="5431536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431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534009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follows the same disciplined loop: specify → plan → build → verify, ensuring full traceability of technical decisions.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Architecture — 4 Components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663440" y="169164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663440" y="1783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63440" y="2148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— 3 role-based spaces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306324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3520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business logic &amp; security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54480" y="443484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4526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Microservice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4892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— P1–P7 + Wave 2 + DST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0" y="443484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2994A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0" y="4526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Service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0" y="4892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 + responses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580644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5897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/ MinIO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6263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storage + object storage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2606040"/>
            <a:ext cx="0" cy="45720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2971800" y="3703320"/>
            <a:ext cx="1965960" cy="73152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23760" y="3703320"/>
            <a:ext cx="1965960" cy="73152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80760" y="3977640"/>
            <a:ext cx="0" cy="182880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971800" y="5349240"/>
            <a:ext cx="2148840" cy="64008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7040880" y="5349240"/>
            <a:ext cx="2148840" cy="64008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orchestration · HTTP communication between services · MinIO for documents and attachments.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Architecture — Deployment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5" name="Image 0" descr="C:/Users/Admin/Downloads/EAM/EAMSagemCom/rapport/figures/deployment_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676656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737360"/>
            <a:ext cx="4069080" cy="4480560"/>
          </a:xfrm>
          <a:prstGeom prst="roundRect">
            <a:avLst>
              <a:gd name="adj" fmla="val 2022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863840" y="19659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independent Docker Compose stacks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863840" y="26060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75320" y="25328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stack: Postgres, RabbitMQ, MinIO, backend, ML, RAG, frontend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63840" y="3227832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0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75320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(SAST, self-hosted)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863840" y="384962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0" y="3849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75320" y="37764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Prometheus + Grafana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863840" y="4471416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0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75320" y="439826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notebooks (ML research)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863840" y="5166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migration: AKS cluster (Azure), provisioned via Terraform.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109960" cy="365760"/>
          </a:xfrm>
          <a:prstGeom prst="roundRect">
            <a:avLst>
              <a:gd name="adj" fmla="val 22500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72768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telemetry:  air temperature · process temperature · rotational speed · torque · tool wear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089904" y="1975104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828800" y="1965960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numbers into useful clues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2139696"/>
            <a:ext cx="6720840" cy="347472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139696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 — works out how much heat is building up and how hard the machine is working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9904" y="2523744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828800" y="2514600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seven different questions asked at once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chance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144268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17" name="Text 15"/>
          <p:cNvSpPr/>
          <p:nvPr/>
        </p:nvSpPr>
        <p:spPr>
          <a:xfrm>
            <a:off x="2144268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44268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type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739896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20" name="Text 18"/>
          <p:cNvSpPr/>
          <p:nvPr/>
        </p:nvSpPr>
        <p:spPr>
          <a:xfrm>
            <a:off x="3739896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39896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left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335524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23" name="Text 21"/>
          <p:cNvSpPr/>
          <p:nvPr/>
        </p:nvSpPr>
        <p:spPr>
          <a:xfrm>
            <a:off x="5335524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35524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behavior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931152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26" name="Text 24"/>
          <p:cNvSpPr/>
          <p:nvPr/>
        </p:nvSpPr>
        <p:spPr>
          <a:xfrm>
            <a:off x="6931152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31152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526780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29" name="Text 27"/>
          <p:cNvSpPr/>
          <p:nvPr/>
        </p:nvSpPr>
        <p:spPr>
          <a:xfrm>
            <a:off x="8526780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P6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26780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timing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122408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32" name="Text 30"/>
          <p:cNvSpPr/>
          <p:nvPr/>
        </p:nvSpPr>
        <p:spPr>
          <a:xfrm>
            <a:off x="10122408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P7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122408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needed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089904" y="3319272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1828800" y="3310128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set of checks runs at the same time, using the machine's history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35661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BEAD9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602736"/>
            <a:ext cx="2606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F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380390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estimates realistic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91840" y="35661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BEAD9"/>
          </a:solidFill>
          <a:ln/>
        </p:spPr>
      </p:sp>
      <p:sp>
        <p:nvSpPr>
          <p:cNvPr id="40" name="Text 38"/>
          <p:cNvSpPr/>
          <p:nvPr/>
        </p:nvSpPr>
        <p:spPr>
          <a:xfrm>
            <a:off x="3291840" y="3602736"/>
            <a:ext cx="2606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F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Cox PH survival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291840" y="380390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it can run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035040" y="35661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BEAD9"/>
          </a:solidFill>
          <a:ln/>
        </p:spPr>
      </p:sp>
      <p:sp>
        <p:nvSpPr>
          <p:cNvPr id="43" name="Text 41"/>
          <p:cNvSpPr/>
          <p:nvPr/>
        </p:nvSpPr>
        <p:spPr>
          <a:xfrm>
            <a:off x="6035040" y="3602736"/>
            <a:ext cx="2606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F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Mahalanobis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035040" y="380390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from its own normal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778240" y="35661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BEAD9"/>
          </a:solidFill>
          <a:ln/>
        </p:spPr>
      </p:sp>
      <p:sp>
        <p:nvSpPr>
          <p:cNvPr id="46" name="Text 44"/>
          <p:cNvSpPr/>
          <p:nvPr/>
        </p:nvSpPr>
        <p:spPr>
          <a:xfrm>
            <a:off x="8778240" y="3602736"/>
            <a:ext cx="2606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F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CUSUM + Kalman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78240" y="380390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decline over time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089904" y="4078224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1828800" y="4069080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opinions get combined into one answer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48640" y="4279392"/>
            <a:ext cx="11109960" cy="457200"/>
          </a:xfrm>
          <a:prstGeom prst="roundRect">
            <a:avLst>
              <a:gd name="adj" fmla="val 18000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4279392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Dempster-Shafer evidence fusion —  </a:t>
            </a:r>
            <a:pPr algn="ctr" indent="0" marL="0"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every signal together, and says 'not sure' if they disagree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089904" y="4846320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1828800" y="4837176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shows a score when it's confident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5047488"/>
            <a:ext cx="5623560" cy="502920"/>
          </a:xfrm>
          <a:prstGeom prst="roundRect">
            <a:avLst>
              <a:gd name="adj" fmla="val 16364"/>
            </a:avLst>
          </a:prstGeom>
          <a:solidFill>
            <a:srgbClr val="E9F3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1840" y="5047488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health score (0–100) + verdict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 Definitions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109960" cy="365760"/>
          </a:xfrm>
          <a:prstGeom prst="roundRect">
            <a:avLst>
              <a:gd name="adj" fmla="val 22500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91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98648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18888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93608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details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2057400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Failure prob.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98648" y="2057400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18888" y="2057400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it fail soon?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93608" y="2057400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5 features · SMOTE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2418588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418588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 Failure type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98648" y="2418588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18888" y="2418588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failure?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93608" y="2418588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XGBoost · 5 modes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2779776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 Remaining life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98648" y="2779776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 + quantile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18888" y="2779776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left before service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293608" y="2779776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MAE 14.95 · C-idx 0.62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3140964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140964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 Anomaly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98648" y="3140964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ensemble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18888" y="3140964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strange right now?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293608" y="3140964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30% + Z 20% + cluster 10% + AE 40%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58368" y="3502152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 Priority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98648" y="3502152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18888" y="3502152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urgent is the repair?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293608" y="3502152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4 priority classes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" y="3863340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3863340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P6 Schedule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898648" y="3863340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18888" y="3863340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time to do maintenance?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293608" y="3863340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replaced earlier Prophet design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58368" y="4224528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P7 Parts demand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898648" y="4224528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+ forecast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18888" y="4224528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parts, and when?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93608" y="4224528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 + Croston's method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48640" y="4585716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4585716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898648" y="4585716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net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18888" y="4585716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estimates realistic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293608" y="4585716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signal · reads history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58368" y="4946904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Cox PH survival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898648" y="4946904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regression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18888" y="4946904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can it keep running?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293608" y="4946904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signal · C-index 0.712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48640" y="5308092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" y="5308092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Mahalanobis index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898648" y="5308092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818888" y="5308092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from its own normal?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293608" y="5308092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signal · ignores wear resets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58368" y="5669280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CUSUM + Kalman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898648" y="5669280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Change-point detector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818888" y="5669280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 getting worse over time?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293608" y="5669280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signal · smoothed drift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48640" y="6030468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8368" y="6030468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DST fusion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898648" y="6030468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Evidence-combination rule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818888" y="6030468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every signal into one verdict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293608" y="6030468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Dempster's rule, or Yager's on conflict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Models — Comparison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109960" cy="365760"/>
          </a:xfrm>
          <a:prstGeom prst="roundRect">
            <a:avLst>
              <a:gd name="adj" fmla="val 22500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91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72968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used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33288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Alternatives considered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93608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one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2057400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Failure probability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172968" y="2057400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733288" y="2057400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(initial), logistic regression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93608" y="2057400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on non-linear, imbalanced sensor data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546604"/>
            <a:ext cx="11109960" cy="489204"/>
          </a:xfrm>
          <a:prstGeom prst="roundRect">
            <a:avLst>
              <a:gd name="adj" fmla="val 16822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546604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 Failure type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72968" y="2546604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XGBoost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733288" y="2546604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Random Forest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93608" y="2546604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F1 on rare failure modes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3035808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 Remaining life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172968" y="3035808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quantile heads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733288" y="3035808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Hand-coded linear regression (legacy)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93608" y="3035808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calibrated uncertainty range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525012"/>
            <a:ext cx="11109960" cy="489204"/>
          </a:xfrm>
          <a:prstGeom prst="roundRect">
            <a:avLst>
              <a:gd name="adj" fmla="val 16822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525012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RUL, censoring-aware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172968" y="3525012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Weibull AFT / Cox PH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733288" y="3525012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Naive, censoring-blind regression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93608" y="3525012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C-index 0.714/0.712 vs 0.644 naive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8368" y="4014216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 Anomaly detection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72968" y="4014216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4-method ensemble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733288" y="4014216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alone, autoencoder alone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93608" y="4014216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anomaly shapes a single method misses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503420"/>
            <a:ext cx="11109960" cy="489204"/>
          </a:xfrm>
          <a:prstGeom prst="roundRect">
            <a:avLst>
              <a:gd name="adj" fmla="val 16822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503420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 Work order priority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172968" y="4503420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multi-class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733288" y="4503420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heuristic, Random Forest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93608" y="4503420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instead of fixed thresholds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8368" y="4992624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P6 Maintenance schedule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172968" y="4992624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733288" y="4992624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Prophet, ARIMA, LSTM forecast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93608" y="4992624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robust on sparse per-machine data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5481828"/>
            <a:ext cx="11109960" cy="489204"/>
          </a:xfrm>
          <a:prstGeom prst="roundRect">
            <a:avLst>
              <a:gd name="adj" fmla="val 16822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5481828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P7 Parts demand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172968" y="5481828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+ Croston's method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733288" y="5481828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point, moving average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293608" y="5481828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bursty, intermittent demand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8368" y="5971032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2 fusion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172968" y="5971032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Dempster-Shafer fusion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733288" y="5971032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average, majority vote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293608" y="5971032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uncertainty instead of forcing consensus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5" name="Image 0" descr="C:/Users/Admin/Downloads/EAM/EAMSagemCom/rapport/figures/class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691640"/>
            <a:ext cx="1033272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 Chart — Internship Schedule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5" name="Image 0" descr="C:/Users/Admin/Downloads/EAM/EAMSagemCom/rapport/figures/plann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2471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0116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TypeScript · React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5152" y="20116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45152" y="2560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SQLAlchemy · PostgreSQL · Alembic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85632" y="20116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85632" y="2560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XGBoost · scikit-learn · TensorFlow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2994A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" y="38404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&amp; AI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" y="43891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· BAAI/bge-m3 · Groq LLM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45152" y="38404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45152" y="43891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MinIO · RabbitMQ · Celery · Terraform · AKS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85632" y="38404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DevSecOps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85632" y="43891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 · Gitleaks · SonarQube · Trivy · OWASP ZAP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Delivered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pic>
        <p:nvPicPr>
          <p:cNvPr id="6" name="Image 0" descr="C:/Users/Admin/Downloads/EAM/EAMSagemCom/rapport/figures/ss_dashboard_chefte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521208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Technician dashboard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63640" y="173736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pic>
        <p:nvPicPr>
          <p:cNvPr id="9" name="Image 1" descr="C:/Users/Admin/Downloads/EAM/EAMSagemCom/rapport/figures/ss_ml_dashboar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1828800"/>
            <a:ext cx="5212080" cy="1645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5508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Per-machine ML intelligence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48640" y="42062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pic>
        <p:nvPicPr>
          <p:cNvPr id="12" name="Image 2" descr="C:/Users/Admin/Downloads/EAM/EAMSagemCom/rapport/figures/ss_cha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" y="4297680"/>
            <a:ext cx="5212080" cy="1645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59710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RAG assistant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263640" y="42062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pic>
        <p:nvPicPr>
          <p:cNvPr id="15" name="Image 3" descr="C:/Users/Admin/Downloads/EAM/EAMSagemCom/rapport/figures/ss_login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55080" y="4297680"/>
            <a:ext cx="5212080" cy="16459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55080" y="59710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solid EAM foundation, an honest predictive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94767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platform delivered: operational management + 7 ML models + RAG assistant, tested and secured by a 5-stage DevSecOps pipeline.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72491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methodological discipline: every feature specified, planned, built, then verified — full traceability of technical decisions.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50215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rigor on model quality: label leakage was detected and reported, not hidden.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11109960" cy="1508760"/>
          </a:xfrm>
          <a:prstGeom prst="roundRect">
            <a:avLst>
              <a:gd name="adj" fmla="val 5455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463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—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accumulating real ground-truth data to resolve the "leaked" labels (P1/P2/P5), and continuing the production migration to AKS.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your attention — questions welcome.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2026-08-14T10:12:39Z</dcterms:created>
  <dcterms:modified xsi:type="dcterms:W3CDTF">2026-08-14T10:12:39Z</dcterms:modified>
</cp:coreProperties>
</file>