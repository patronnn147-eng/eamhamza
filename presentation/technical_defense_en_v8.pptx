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2" r:id="rId33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35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8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8.xml"/><Relationship Id="rId35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7-1.png"/><Relationship Id="rId3" Type="http://schemas.openxmlformats.org/officeDocument/2006/relationships/image" Target="../media/image-27-2.png"/><Relationship Id="rId4" Type="http://schemas.openxmlformats.org/officeDocument/2006/relationships/image" Target="../media/image-27-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:/Users/Admin/Downloads/EAM/EAMSagemCom/rapport/figures/espr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960120" cy="960120"/>
          </a:xfrm>
          <a:prstGeom prst="rect">
            <a:avLst/>
          </a:prstGeom>
        </p:spPr>
      </p:pic>
      <p:pic>
        <p:nvPicPr>
          <p:cNvPr id="6" name="Image 1" descr="C:/Users/Admin/Downloads/EAM/EAMSagemCom/rapport/figures/sagemco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561320" y="502920"/>
            <a:ext cx="105156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DEFENSE — FIRST PRESENTATION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EAM Platform for Intelligent Predictive Maintenance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4864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an Enterprise Asset Management (EAM) system augmented with seven Machine Learning models, an evidence-fusion engine, and a conversational RAG assistant.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3108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Mbarki</a:t>
            </a:r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End-of-Studies Internship — ESPRIT × SagemCom  · 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host company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of existing solutions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requirements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methodology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progress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SagemCom — Communication Equipment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pic>
        <p:nvPicPr>
          <p:cNvPr id="6" name="Image 0" descr="C:/Users/Admin/Downloads/EAM/EAMSagemCom/rapport/figures/sagemc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011680"/>
            <a:ext cx="210312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08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group specializing in the design and manufacturing of high-value communication equipment: set-top boxes, internet boxes, and smart meters.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4160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4114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lines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assembly, functional testing, and automated quality control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7274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4681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department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&amp; Innovation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5294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7320" y="52486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Department's mission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digital tools for equipment maintenance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52360" y="17373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181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 at a glance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18120" y="2606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098280" y="2715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internship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818120" y="350215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909828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(P1–P7)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18120" y="43982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9098280" y="45079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818120" y="5294376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9098280" y="54041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scheduled to predictive maintenance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only after the failure: line stoppage, emergency parts ordering, maximum total cost.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(calendar)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at fixed intervals, regardless of actual condition: parts replaced too early, or failures between two scheduled visits.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(project's target)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reading of machine signals (temperature, torque, wear) to anticipate failure before it happens.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—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cases, a machine's degradation is visible in its sensor data well before the actual stoppage. This is the premise the whole ML pipeline is built 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cover, in a single platform,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operational management AND predictive maintenance?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8254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operational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31912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orders, intervention orders, scheduling — the EAM foundation.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41970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predictive maintenance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5628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probability, failure type, remaining useful life, anomalies, prioritization, scheduling, parts coordination.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7607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55686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field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9344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Contextualized alerts, explainability ("why this alert?"), a conversational assistant combining documentation and real-time status.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identified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PM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EAM module of a general-purpose ERP, very complete on work order and asset management.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Maximo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246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EAM suite with a predictive add-on module (Maximo APM), strong document management.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51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 Digital APM / Predix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4251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platform focused on IoT sensors and large-scale reliability analytics.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57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CMMS / Excel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5257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tools or spreadsheets, used when budget doesn't allow a full EAM suite.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of existing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strengths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871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4323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EAM functional coverage (WOs, assets, scheduling)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9900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29352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ecosystems, large communities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4381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modules available as add-ons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in this context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46227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4074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as a costly add-on, poorly explained to technicians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96519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9103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assistant tied to real-time machine status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46811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54132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licensing and integration cost for a single site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2057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of the proposed solution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288036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tailored to SagemCom's fleet, no heavy licensing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365760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explained in plain language, no ML jargon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92240" y="443484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4343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assistant + real-time machine context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92240" y="521208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5120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always "guarded": nothing fires without human approval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EAM Platform Augmented by 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EAM foundation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 and intervention orders, scheduling, archiving.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predictive models (P1–P7)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Failure, failure type, remaining useful life, anomaly, priority, scheduling, parts.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fusion (DST)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8563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4 advanced signals (Wave 2) into one honest, unified health score.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explainability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shipped with a plain-language explanation.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RAG assistant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4515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+ real-time machine status merged into every answer.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8563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automation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8563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purchase proposals generated, never ordered without human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Platform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05740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machines, and the document base; overall view of the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20574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Manager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84448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and overview of machine labels and statuses.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77456" y="2057400"/>
            <a:ext cx="1005840" cy="10058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7077456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91656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Technician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7376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interventions, arbitrates priorities, approves procurement proposals.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7424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30384" y="2057400"/>
            <a:ext cx="1005840" cy="10058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9930384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90304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intervention orders, checks health status, queries the AI assistant.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C:/Users/Admin/AppData/Local/Temp/claude/C--Users-Admin-Downloads-EAM-EAMSagemCom/e161d5b3-3f5a-4902-93ec-a6ee0b387a74/scratchpad/pptx/usecase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0" y="1600200"/>
            <a:ext cx="7955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9 Areas Covered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2980944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80944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management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47488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96912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79792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479792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9792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46336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9216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9729216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29216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(P1–P7)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98064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80944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2980944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80944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47488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5230368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96912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79792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9" name="Text 37"/>
          <p:cNvSpPr/>
          <p:nvPr/>
        </p:nvSpPr>
        <p:spPr>
          <a:xfrm>
            <a:off x="7479792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&amp; traceability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61447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cross-cutting requirements: every prediction ships with a plain-language explanation; the system degrades honestly (reports missing telemetry rather than inventing a value).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 for common operations; &lt; 5 s for full ML inference.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EAM features stay fully operational even if the ML service is unavailable.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of presentation / business logic / data access; versioned migrations (Alembic).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via Docker Compose, configuration centralized in a single .env file.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adapted to the user's role and device (desktop workstation or field tablet).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confidentiality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scoped by role; intervention history cannot be modified retroactively.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0" y="50749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53035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17720" y="5806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security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17720" y="60990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hardened; secrets scanned every commit via a 5-stage DevSecOps pipeline (SAST, DAST, dependency &amp; image scans).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Iterative Approach Inspired by Scrum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SagemCom supervisor — prioritizes business needs and validates every deliverable.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drives the specify → plan → build → verify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5820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Intern, paired with an AI assistant for implementation and testing.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 &amp; artifacts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407408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Sprints: 7 monthly iterations aligned with the roadmap (see Gantt chart).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919472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828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a written specification document + a detailed implementation plan for every feature, before any code is written.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5431536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3400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follows the same disciplined loop: specify → plan → build → verify, ensuring full traceability of technical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 — Component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0" y="1536192"/>
            <a:ext cx="1737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1536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1865376"/>
            <a:ext cx="0" cy="31089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32120" y="1920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0" y="2176272"/>
            <a:ext cx="9692640" cy="4041648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51560" y="22311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 — asset_management_network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166360" y="2487168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4871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(Next.js)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80760" y="2907792"/>
            <a:ext cx="0" cy="29260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66360" y="3200400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2004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43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Microservice (Flask)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29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Service (FastAPI)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15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:5672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43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:9000 / :9001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15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+ beat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H="1">
            <a:off x="2121408" y="3621024"/>
            <a:ext cx="3730752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4407408" y="3621024"/>
            <a:ext cx="1673352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09360" y="3621024"/>
            <a:ext cx="384048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2651760" y="4517136"/>
            <a:ext cx="1755648" cy="49377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103120" y="466344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693408" y="4517136"/>
            <a:ext cx="0" cy="49377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29600" y="4096512"/>
            <a:ext cx="228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8275320" y="40965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· SMTP (Gmail)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40880" y="4297680"/>
            <a:ext cx="1188720" cy="45720"/>
          </a:xfrm>
          <a:prstGeom prst="line">
            <a:avLst/>
          </a:prstGeom>
          <a:noFill/>
          <a:ln w="9525">
            <a:solidFill>
              <a:srgbClr val="8C97A5"/>
            </a:solidFill>
            <a:prstDash val="dash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492240" y="42199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is an independent container on one Docker network. The backend also reads and writes PostgreSQL and MinIO directly, not shown to keep the diagram readable.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 — Request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196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requests the machine's 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73736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/machines/{id}/unified-health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72284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2257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reads the latest real sensor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32257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rows filtered out; none found → returns telemetry_available: false and stops here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57500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00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9077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calls the ML microservice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290779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P1–P7 in parallel on the sensor snapshot; models stay cached in memory after first load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42716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753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49300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models process the history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49300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concurrently with P1–P7, reading the machine's telemetry trend, not just this instant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27932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0782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fusion combines every signal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407822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unified health score and verdict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13148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457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466344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prediction is logged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66344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ml_prediction_logs for audit and future retraining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198364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3309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524865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renders the result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0" y="524865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Intelligence panel updates with the new score and explanation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870448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870448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—  </a:t>
            </a:r>
            <a:pPr indent="0" marL="0">
              <a:buNone/>
            </a:pPr>
            <a:r>
              <a:rPr lang="en-US" sz="10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 on record never means a fabricated prediction; the platform falls back to a maintenance-history-only score instead.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Deployment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0" y="1536192"/>
            <a:ext cx="1737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1536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1865376"/>
            <a:ext cx="0" cy="274320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77840" y="1901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732520" y="1536192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77824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images)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 flipH="1">
            <a:off x="6309360" y="1901952"/>
            <a:ext cx="2468880" cy="237744"/>
          </a:xfrm>
          <a:prstGeom prst="line">
            <a:avLst/>
          </a:prstGeom>
          <a:noFill/>
          <a:ln w="9525">
            <a:solidFill>
              <a:srgbClr val="8C97A5"/>
            </a:solidFill>
            <a:prstDash val="dash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806440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14400" y="2139696"/>
            <a:ext cx="9692640" cy="411480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51560" y="21945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 — docker compose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88720" y="245059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280160" y="25054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80160" y="274320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:3000 · Backend :8000 · ML :8001 · RAG :8003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:5432 · RabbitMQ :5672 · MinIO :9000/:9001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+ beat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0" y="245059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035040" y="25054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stack (SAST)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CE server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database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on demand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88720" y="437083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80160" y="44256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80160" y="46634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Pushgateway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43600" y="437083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35040" y="44256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stack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0" y="46634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(ML research)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trains/evaluates models offline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running app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 flipH="1">
            <a:off x="3429000" y="1865376"/>
            <a:ext cx="2651760" cy="58521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stacks, one Docker host — each starts, stops, and rebuilds independently, without touching the running application.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Security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211226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Gitleaks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commit and Git history for hard-coded credentials, keys, tokens.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98064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98064" y="1737360"/>
            <a:ext cx="2112264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2" name="Text 10"/>
          <p:cNvSpPr/>
          <p:nvPr/>
        </p:nvSpPr>
        <p:spPr>
          <a:xfrm>
            <a:off x="2935224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35224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 / pnpm audit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35224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every dependency against known CVEs and license risk.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47488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47488" y="1737360"/>
            <a:ext cx="2112264" cy="54864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17" name="Text 15"/>
          <p:cNvSpPr/>
          <p:nvPr/>
        </p:nvSpPr>
        <p:spPr>
          <a:xfrm>
            <a:off x="5184648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SonarQube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4648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(SAST)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84648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injection flaws, weak crypto, broad exception handling, data exposure.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96912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1737360"/>
            <a:ext cx="2112264" cy="54864"/>
          </a:xfrm>
          <a:prstGeom prst="rect">
            <a:avLst/>
          </a:prstGeom>
          <a:solidFill>
            <a:srgbClr val="712B13"/>
          </a:solidFill>
          <a:ln/>
        </p:spPr>
      </p:sp>
      <p:sp>
        <p:nvSpPr>
          <p:cNvPr id="22" name="Text 20"/>
          <p:cNvSpPr/>
          <p:nvPr/>
        </p:nvSpPr>
        <p:spPr>
          <a:xfrm>
            <a:off x="7434072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Trivy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34072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IaC scan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34072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5 Docker images and Compose files for CVEs and misconfiguration.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46336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46336" y="1737360"/>
            <a:ext cx="2112264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7" name="Text 25"/>
          <p:cNvSpPr/>
          <p:nvPr/>
        </p:nvSpPr>
        <p:spPr>
          <a:xfrm>
            <a:off x="9683496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OWASP ZAP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83496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testing (DAST)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83496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as all 4 roles and probes running services for the OWASP Top 10.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70332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 — fully green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6868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violations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347472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reviewed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08076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(was 10.3%)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74.8%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68680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(≥ 70% target)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3035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stages run non-blocking (allow_failure: true) on every push — full visibility into findings without ever blocking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Pipeline — Live Evidence</a:t>
            </a:r>
            <a:endParaRPr lang="en-US" sz="3000" dirty="0"/>
          </a:p>
        </p:txBody>
      </p:sp>
      <p:pic>
        <p:nvPicPr>
          <p:cNvPr id="41" name="Picture SonarQub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0000"/>
            <a:ext cx="3550920" cy="1793400"/>
          </a:xfrm>
          <a:prstGeom prst="rect">
            <a:avLst/>
          </a:prstGeom>
          <a:ln w="12700">
            <a:solidFill>
              <a:srgbClr val="DCE4EC"/>
            </a:solidFill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pic>
      <p:pic>
        <p:nvPicPr>
          <p:cNvPr id="42" name="Picture Triv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60" y="1900000"/>
            <a:ext cx="3550920" cy="1793400"/>
          </a:xfrm>
          <a:prstGeom prst="rect">
            <a:avLst/>
          </a:prstGeom>
          <a:ln w="12700">
            <a:solidFill>
              <a:srgbClr val="DCE4EC"/>
            </a:solidFill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pic>
      <p:pic>
        <p:nvPicPr>
          <p:cNvPr id="43" name="Picture Z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680" y="1900000"/>
            <a:ext cx="3550920" cy="1793400"/>
          </a:xfrm>
          <a:prstGeom prst="rect">
            <a:avLst/>
          </a:prstGeom>
          <a:ln w="12700">
            <a:solidFill>
              <a:srgbClr val="DCE4EC"/>
            </a:solidFill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pic>
      <p:sp>
        <p:nvSpPr>
          <p:cNvPr id="44" name="Caption"/>
          <p:cNvSpPr/>
          <p:nvPr/>
        </p:nvSpPr>
        <p:spPr>
          <a:xfrm>
            <a:off x="548640" y="3784840"/>
            <a:ext cx="355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 Quality Gate — Passed (74.8% coverage, 0 new issues)</a:t>
            </a:r>
            <a:endParaRPr lang="en-US" sz="1200" dirty="0"/>
          </a:p>
        </p:txBody>
      </p:sp>
      <p:sp>
        <p:nvSpPr>
          <p:cNvPr id="45" name="Caption"/>
          <p:cNvSpPr/>
          <p:nvPr/>
        </p:nvSpPr>
        <p:spPr>
          <a:xfrm>
            <a:off x="4328160" y="3784840"/>
            <a:ext cx="355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Trivy — Container Image Scan (0 critical / 0 high CVEs)</a:t>
            </a:r>
            <a:endParaRPr lang="en-US" sz="1200" dirty="0"/>
          </a:p>
        </p:txBody>
      </p:sp>
      <p:sp>
        <p:nvSpPr>
          <p:cNvPr id="46" name="Caption"/>
          <p:cNvSpPr/>
          <p:nvPr/>
        </p:nvSpPr>
        <p:spPr>
          <a:xfrm>
            <a:off x="8107680" y="3784840"/>
            <a:ext cx="355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 — DAST Scan (0 high-severity alerts, 11 total)</a:t>
            </a:r>
            <a:endParaRPr lang="en-US" sz="1200" dirty="0"/>
          </a:p>
        </p:txBody>
      </p:sp>
      <p:sp>
        <p:nvSpPr>
          <p:cNvPr id="47" name="Note"/>
          <p:cNvSpPr/>
          <p:nvPr/>
        </p:nvSpPr>
        <p:spPr>
          <a:xfrm>
            <a:off x="548640" y="548640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from the running SonarQube, Grafana/Trivy, and Grafana/OWASP ZAP instances for this project (EAMSagemCom, Phase_2).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Production on AKS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5" name="Image 0" descr="C:/Users/Admin/Downloads/EAM/EAMSagemCom/rapport/figures/aks_deploy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67512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7373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Azure, provisioned via Terraform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2560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8388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 in Poland Central — 1 system node + autoscaling user nodes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321868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3880" y="3127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Database for PostgreSQL Flexible Server, pgvector enabled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0" y="387705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83880" y="37856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holds the database admin secret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0" y="453542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83880" y="44439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hosted on HCP Terraform for a live dashboard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52360" y="5257800"/>
            <a:ext cx="4160520" cy="914400"/>
          </a:xfrm>
          <a:prstGeom prst="roundRect">
            <a:avLst>
              <a:gd name="adj" fmla="val 9000"/>
            </a:avLst>
          </a:prstGeom>
          <a:solidFill>
            <a:srgbClr val="13315C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52578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live: eam-staging namespace, 8/8 pods verified internally. Public load balancer blocked by a subscription-level quota — one open item.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telemetry:  air temperature · process temperature · rotational speed · torque · tool wear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9904" y="197510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828800" y="196596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numbers into useful clues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2139696"/>
            <a:ext cx="672084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3969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— works out how much heat is building up and how hard the machine is working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252374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28800" y="251460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seven different questions asked at once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chance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4426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7" name="Text 15"/>
          <p:cNvSpPr/>
          <p:nvPr/>
        </p:nvSpPr>
        <p:spPr>
          <a:xfrm>
            <a:off x="214426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426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39896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0" name="Text 18"/>
          <p:cNvSpPr/>
          <p:nvPr/>
        </p:nvSpPr>
        <p:spPr>
          <a:xfrm>
            <a:off x="3739896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39896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left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35524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3" name="Text 21"/>
          <p:cNvSpPr/>
          <p:nvPr/>
        </p:nvSpPr>
        <p:spPr>
          <a:xfrm>
            <a:off x="5335524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35524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behavior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31152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31152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2678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9" name="Text 27"/>
          <p:cNvSpPr/>
          <p:nvPr/>
        </p:nvSpPr>
        <p:spPr>
          <a:xfrm>
            <a:off x="852678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2678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12240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32" name="Text 30"/>
          <p:cNvSpPr/>
          <p:nvPr/>
        </p:nvSpPr>
        <p:spPr>
          <a:xfrm>
            <a:off x="1012240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2240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needed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9904" y="3319272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828800" y="3310128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set of checks runs at the same time, using the machine's history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918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can run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350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7782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6" name="Text 44"/>
          <p:cNvSpPr/>
          <p:nvPr/>
        </p:nvSpPr>
        <p:spPr>
          <a:xfrm>
            <a:off x="87782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782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decline over time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89904" y="407822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828800" y="406908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opinions get combined into one answer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4279392"/>
            <a:ext cx="11109960" cy="45720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279392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evidence fusion —  </a:t>
            </a:r>
            <a:pPr algn="ctr"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every signal together, and says 'not sure' if they disagree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89904" y="4846320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828800" y="4837176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a score when it's confident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5047488"/>
            <a:ext cx="5623560" cy="502920"/>
          </a:xfrm>
          <a:prstGeom prst="roundRect">
            <a:avLst>
              <a:gd name="adj" fmla="val 16364"/>
            </a:avLst>
          </a:prstGeom>
          <a:solidFill>
            <a:srgbClr val="E9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5047488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health score (0–100) + verdict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Definitions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98648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18888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details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98648" y="205740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18888" y="205740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fail soon?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5 features · SMOTE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41858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1858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98648" y="241858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241858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failure?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93608" y="241858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 · 5 modes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277977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98648" y="277977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+ quantile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18888" y="277977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left before service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93608" y="277977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MAE 14.95 · C-idx 0.62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140964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4096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98648" y="314096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ensemble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18888" y="314096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strange right now?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93608" y="314096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30% + Z 20% + cluster 10% + AE 40%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" y="350215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Priority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98648" y="350215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18888" y="350215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 is the repair?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93608" y="350215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4 priority classes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863340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86334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Schedule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98648" y="386334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18888" y="386334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do maintenance?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93608" y="386334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replaced earlier Prophet design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8368" y="422452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98648" y="422452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forecast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8888" y="422452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parts, and when?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93608" y="422452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 + Croston's method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4585716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58571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98648" y="458571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18888" y="458571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93608" y="458571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reads history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58368" y="494690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98648" y="494690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regression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18888" y="494690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can it keep running?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93608" y="494690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C-index 0.712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" y="5308092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530809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 index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898648" y="530809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18888" y="530809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93608" y="530809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ignores wear resets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8368" y="566928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98648" y="566928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Change-point detector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18888" y="566928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getting worse over time?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293608" y="566928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smoothed drift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48640" y="603046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603046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fusion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898648" y="603046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Evidence-combination rule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18888" y="603046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every signal into one verdict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293608" y="603046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Dempster's rule, or Yager's on conflict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Models —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3328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probability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7296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3328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(initial), logistic regression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 non-linear, imbalanced sensor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546604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4660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7296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3328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Random Forest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93608" y="254660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F1 on rare failure modes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7296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quantile heads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3328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linear regression (legacy)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93608" y="303580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calibrated uncertainty range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25012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2501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RUL, censoring-aware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7296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 AFT / Cox PH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3328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Naive, censoring-blind regression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93608" y="352501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0.714/0.712 vs 0.644 naive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014216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 detection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7296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4-method ensemble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3328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alone, autoencoder alone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93608" y="4014216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anomaly shapes a single method misses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503420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50342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Work order priority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7296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multi-class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3328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heuristic, Random Forest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93608" y="450342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instead of fixed thresholds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499262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Maintenance schedule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7296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3328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Prophet, ARIMA, LSTM forecast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93608" y="499262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on sparse per-machine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481828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548182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17296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Croston's method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3328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point, moving average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93608" y="548182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bursty, intermittent demand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" y="597103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fusion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17296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fusion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73328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average, majority vote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93608" y="597103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uncertainty instead of forcing consensus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5" name="Picture 4" descr="class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618" y="1521328"/>
            <a:ext cx="3796764" cy="50623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— Internship Schedule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5" name="Image 0" descr="C:/Users/Admin/Downloads/EAM/EAMSagemCom/rapport/figures/plan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247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React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· PostgreSQL · Alembic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8563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XGBoost · scikit-learn · TensorFlow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2994A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BAAI/bge-m3 · Groq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515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MinIO · RabbitMQ · Celery · Terraform · AKS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8563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8563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 · Gitleaks · SonarQube · Trivy · OWASP ZAP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Delivered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6" name="Image 0" descr="C:/Users/Admin/Downloads/EAM/EAMSagemCom/rapport/figures/ss_dashboard_chefte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21208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Technician dashboard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9" name="Image 1" descr="C:/Users/Admin/Downloads/EAM/EAMSagemCom/rapport/figures/ss_ml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828800"/>
            <a:ext cx="5212080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ML intelligence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2" name="Image 2" descr="C:/Users/Admin/Downloads/EAM/EAMSagemCom/rapport/figures/ss_cha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4297680"/>
            <a:ext cx="5212080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RAG assistant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263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5" name="Image 3" descr="C:/Users/Admin/Downloads/EAM/EAMSagemCom/rapport/figures/ss_logi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297680"/>
            <a:ext cx="5212080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ve Demonstration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Walkthrough of All Nine Areas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2980944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80944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management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47488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96912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79792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479792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9792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46336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9216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9729216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29216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(P1–P7)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98064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80944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2980944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80944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47488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5230368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96912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79792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9" name="Text 37"/>
          <p:cNvSpPr/>
          <p:nvPr/>
        </p:nvSpPr>
        <p:spPr>
          <a:xfrm>
            <a:off x="7479792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&amp; traceability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61447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nine areas as the requirements slide — now shown live, end-to-end, across all four platform roles.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EAM foundation, an honest predictive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platform delivered: operational management + 7 ML models + RAG assistant, tested and secured by a 5-stage DevSecOps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7249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methodological discipline: every feature specified, planned, built, then verified — full traceability of technical decisions.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5021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rigor on model quality: label leakage was detected and reported, not hidden.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109960" cy="1508760"/>
          </a:xfrm>
          <a:prstGeom prst="roundRect">
            <a:avLst>
              <a:gd name="adj" fmla="val 5455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463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real ground-truth data to resolve the "leaked" labels (P1/P2/P5), and continuing the production migration to AKS.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2026-08-14T10:55:31Z</dcterms:created>
  <dcterms:modified xsi:type="dcterms:W3CDTF">2026-08-14T10:55:31Z</dcterms:modified>
</cp:coreProperties>
</file>